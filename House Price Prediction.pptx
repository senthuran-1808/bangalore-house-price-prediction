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thuran6370@outlook.com" userId="9ac8ce845672977e" providerId="LiveId" clId="{9E01A7A0-B4BC-4FDC-887C-C9A3C42D9A24}"/>
    <pc:docChg chg="undo custSel modSld">
      <pc:chgData name="senthuran6370@outlook.com" userId="9ac8ce845672977e" providerId="LiveId" clId="{9E01A7A0-B4BC-4FDC-887C-C9A3C42D9A24}" dt="2026-05-19T14:02:24.627" v="319" actId="14100"/>
      <pc:docMkLst>
        <pc:docMk/>
      </pc:docMkLst>
      <pc:sldChg chg="addSp modSp mod">
        <pc:chgData name="senthuran6370@outlook.com" userId="9ac8ce845672977e" providerId="LiveId" clId="{9E01A7A0-B4BC-4FDC-887C-C9A3C42D9A24}" dt="2026-05-19T13:54:49.422" v="172" actId="403"/>
        <pc:sldMkLst>
          <pc:docMk/>
          <pc:sldMk cId="218184657" sldId="256"/>
        </pc:sldMkLst>
        <pc:spChg chg="add">
          <ac:chgData name="senthuran6370@outlook.com" userId="9ac8ce845672977e" providerId="LiveId" clId="{9E01A7A0-B4BC-4FDC-887C-C9A3C42D9A24}" dt="2026-05-19T13:46:25.970" v="63"/>
          <ac:spMkLst>
            <pc:docMk/>
            <pc:sldMk cId="218184657" sldId="256"/>
            <ac:spMk id="2" creationId="{884D9532-5B74-1836-91EC-F26453093F0D}"/>
          </ac:spMkLst>
        </pc:spChg>
        <pc:spChg chg="add mod">
          <ac:chgData name="senthuran6370@outlook.com" userId="9ac8ce845672977e" providerId="LiveId" clId="{9E01A7A0-B4BC-4FDC-887C-C9A3C42D9A24}" dt="2026-05-19T13:46:31.784" v="65"/>
          <ac:spMkLst>
            <pc:docMk/>
            <pc:sldMk cId="218184657" sldId="256"/>
            <ac:spMk id="3" creationId="{95844194-FDB5-3E0D-D4A5-06DEF4729665}"/>
          </ac:spMkLst>
        </pc:spChg>
        <pc:spChg chg="mod">
          <ac:chgData name="senthuran6370@outlook.com" userId="9ac8ce845672977e" providerId="LiveId" clId="{9E01A7A0-B4BC-4FDC-887C-C9A3C42D9A24}" dt="2026-05-19T13:54:49.422" v="172" actId="403"/>
          <ac:spMkLst>
            <pc:docMk/>
            <pc:sldMk cId="218184657" sldId="256"/>
            <ac:spMk id="4" creationId="{B10B3EA3-559F-087F-96B6-F6372516942B}"/>
          </ac:spMkLst>
        </pc:spChg>
        <pc:spChg chg="mod">
          <ac:chgData name="senthuran6370@outlook.com" userId="9ac8ce845672977e" providerId="LiveId" clId="{9E01A7A0-B4BC-4FDC-887C-C9A3C42D9A24}" dt="2026-05-19T13:49:32.657" v="102" actId="255"/>
          <ac:spMkLst>
            <pc:docMk/>
            <pc:sldMk cId="218184657" sldId="256"/>
            <ac:spMk id="5" creationId="{A3D4046F-AEE5-0046-2D13-19D34E422125}"/>
          </ac:spMkLst>
        </pc:spChg>
        <pc:spChg chg="add">
          <ac:chgData name="senthuran6370@outlook.com" userId="9ac8ce845672977e" providerId="LiveId" clId="{9E01A7A0-B4BC-4FDC-887C-C9A3C42D9A24}" dt="2026-05-19T13:46:33.682" v="66"/>
          <ac:spMkLst>
            <pc:docMk/>
            <pc:sldMk cId="218184657" sldId="256"/>
            <ac:spMk id="6" creationId="{75F6DCC5-D712-ACDE-E2FE-AA7C6E05D26A}"/>
          </ac:spMkLst>
        </pc:spChg>
        <pc:spChg chg="add">
          <ac:chgData name="senthuran6370@outlook.com" userId="9ac8ce845672977e" providerId="LiveId" clId="{9E01A7A0-B4BC-4FDC-887C-C9A3C42D9A24}" dt="2026-05-19T13:46:43.112" v="72"/>
          <ac:spMkLst>
            <pc:docMk/>
            <pc:sldMk cId="218184657" sldId="256"/>
            <ac:spMk id="7" creationId="{9CF14ED5-FA63-62E0-88A9-60C389AEF665}"/>
          </ac:spMkLst>
        </pc:spChg>
        <pc:spChg chg="add">
          <ac:chgData name="senthuran6370@outlook.com" userId="9ac8ce845672977e" providerId="LiveId" clId="{9E01A7A0-B4BC-4FDC-887C-C9A3C42D9A24}" dt="2026-05-19T13:46:46.922" v="75"/>
          <ac:spMkLst>
            <pc:docMk/>
            <pc:sldMk cId="218184657" sldId="256"/>
            <ac:spMk id="8" creationId="{92D052A3-8790-A596-C1DD-A71CF9889FA1}"/>
          </ac:spMkLst>
        </pc:spChg>
        <pc:spChg chg="add">
          <ac:chgData name="senthuran6370@outlook.com" userId="9ac8ce845672977e" providerId="LiveId" clId="{9E01A7A0-B4BC-4FDC-887C-C9A3C42D9A24}" dt="2026-05-19T13:47:06.797" v="82"/>
          <ac:spMkLst>
            <pc:docMk/>
            <pc:sldMk cId="218184657" sldId="256"/>
            <ac:spMk id="9" creationId="{C4B4B532-D224-60F0-04D7-E209B246C819}"/>
          </ac:spMkLst>
        </pc:spChg>
      </pc:sldChg>
      <pc:sldChg chg="addSp modSp mod">
        <pc:chgData name="senthuran6370@outlook.com" userId="9ac8ce845672977e" providerId="LiveId" clId="{9E01A7A0-B4BC-4FDC-887C-C9A3C42D9A24}" dt="2026-05-19T14:02:24.627" v="319" actId="14100"/>
        <pc:sldMkLst>
          <pc:docMk/>
          <pc:sldMk cId="3604143639" sldId="257"/>
        </pc:sldMkLst>
        <pc:spChg chg="mod">
          <ac:chgData name="senthuran6370@outlook.com" userId="9ac8ce845672977e" providerId="LiveId" clId="{9E01A7A0-B4BC-4FDC-887C-C9A3C42D9A24}" dt="2026-05-19T13:52:15.749" v="132" actId="404"/>
          <ac:spMkLst>
            <pc:docMk/>
            <pc:sldMk cId="3604143639" sldId="257"/>
            <ac:spMk id="2" creationId="{10E89A20-703C-71F6-BCFD-AA2006CA7286}"/>
          </ac:spMkLst>
        </pc:spChg>
        <pc:spChg chg="mod">
          <ac:chgData name="senthuran6370@outlook.com" userId="9ac8ce845672977e" providerId="LiveId" clId="{9E01A7A0-B4BC-4FDC-887C-C9A3C42D9A24}" dt="2026-05-19T13:51:41.399" v="128" actId="255"/>
          <ac:spMkLst>
            <pc:docMk/>
            <pc:sldMk cId="3604143639" sldId="257"/>
            <ac:spMk id="3" creationId="{E8962A58-04BB-C985-F3A4-C87BD15EC0CC}"/>
          </ac:spMkLst>
        </pc:spChg>
        <pc:spChg chg="mod">
          <ac:chgData name="senthuran6370@outlook.com" userId="9ac8ce845672977e" providerId="LiveId" clId="{9E01A7A0-B4BC-4FDC-887C-C9A3C42D9A24}" dt="2026-05-19T14:02:24.627" v="319" actId="14100"/>
          <ac:spMkLst>
            <pc:docMk/>
            <pc:sldMk cId="3604143639" sldId="257"/>
            <ac:spMk id="4" creationId="{82408784-5AE8-F102-00A5-9138D1FF7B8C}"/>
          </ac:spMkLst>
        </pc:spChg>
        <pc:spChg chg="add mod">
          <ac:chgData name="senthuran6370@outlook.com" userId="9ac8ce845672977e" providerId="LiveId" clId="{9E01A7A0-B4BC-4FDC-887C-C9A3C42D9A24}" dt="2026-05-19T13:52:02.075" v="130" actId="1076"/>
          <ac:spMkLst>
            <pc:docMk/>
            <pc:sldMk cId="3604143639" sldId="257"/>
            <ac:spMk id="6" creationId="{658B34F8-DBD6-B0E0-3E41-55136E7962CA}"/>
          </ac:spMkLst>
        </pc:spChg>
      </pc:sldChg>
      <pc:sldChg chg="modSp mod">
        <pc:chgData name="senthuran6370@outlook.com" userId="9ac8ce845672977e" providerId="LiveId" clId="{9E01A7A0-B4BC-4FDC-887C-C9A3C42D9A24}" dt="2026-05-19T13:56:45.116" v="215" actId="1076"/>
        <pc:sldMkLst>
          <pc:docMk/>
          <pc:sldMk cId="355816453" sldId="258"/>
        </pc:sldMkLst>
        <pc:spChg chg="mod">
          <ac:chgData name="senthuran6370@outlook.com" userId="9ac8ce845672977e" providerId="LiveId" clId="{9E01A7A0-B4BC-4FDC-887C-C9A3C42D9A24}" dt="2026-05-19T13:56:17.687" v="214" actId="1076"/>
          <ac:spMkLst>
            <pc:docMk/>
            <pc:sldMk cId="355816453" sldId="258"/>
            <ac:spMk id="2" creationId="{E353C4ED-F0E8-8D3F-F0A8-9665B14928F8}"/>
          </ac:spMkLst>
        </pc:spChg>
        <pc:spChg chg="mod">
          <ac:chgData name="senthuran6370@outlook.com" userId="9ac8ce845672977e" providerId="LiveId" clId="{9E01A7A0-B4BC-4FDC-887C-C9A3C42D9A24}" dt="2026-05-19T13:56:14.132" v="213" actId="1076"/>
          <ac:spMkLst>
            <pc:docMk/>
            <pc:sldMk cId="355816453" sldId="258"/>
            <ac:spMk id="3" creationId="{5E9C46B2-E10F-EEAB-F840-ADB62B2BFD89}"/>
          </ac:spMkLst>
        </pc:spChg>
        <pc:graphicFrameChg chg="mod modGraphic">
          <ac:chgData name="senthuran6370@outlook.com" userId="9ac8ce845672977e" providerId="LiveId" clId="{9E01A7A0-B4BC-4FDC-887C-C9A3C42D9A24}" dt="2026-05-19T13:56:45.116" v="215" actId="1076"/>
          <ac:graphicFrameMkLst>
            <pc:docMk/>
            <pc:sldMk cId="355816453" sldId="258"/>
            <ac:graphicFrameMk id="10" creationId="{7FF599D3-E763-5375-B988-404C1D795082}"/>
          </ac:graphicFrameMkLst>
        </pc:graphicFrameChg>
      </pc:sldChg>
      <pc:sldChg chg="modSp mod">
        <pc:chgData name="senthuran6370@outlook.com" userId="9ac8ce845672977e" providerId="LiveId" clId="{9E01A7A0-B4BC-4FDC-887C-C9A3C42D9A24}" dt="2026-05-19T14:02:07.145" v="318" actId="1076"/>
        <pc:sldMkLst>
          <pc:docMk/>
          <pc:sldMk cId="100801296" sldId="259"/>
        </pc:sldMkLst>
        <pc:spChg chg="mod">
          <ac:chgData name="senthuran6370@outlook.com" userId="9ac8ce845672977e" providerId="LiveId" clId="{9E01A7A0-B4BC-4FDC-887C-C9A3C42D9A24}" dt="2026-05-19T13:57:32.076" v="219" actId="113"/>
          <ac:spMkLst>
            <pc:docMk/>
            <pc:sldMk cId="100801296" sldId="259"/>
            <ac:spMk id="2" creationId="{D452A37A-788E-E157-F585-6D76B47B3BC9}"/>
          </ac:spMkLst>
        </pc:spChg>
        <pc:spChg chg="mod">
          <ac:chgData name="senthuran6370@outlook.com" userId="9ac8ce845672977e" providerId="LiveId" clId="{9E01A7A0-B4BC-4FDC-887C-C9A3C42D9A24}" dt="2026-05-19T14:02:07.145" v="318" actId="1076"/>
          <ac:spMkLst>
            <pc:docMk/>
            <pc:sldMk cId="100801296" sldId="259"/>
            <ac:spMk id="3" creationId="{A69D50D2-82DC-D872-9199-2983FA8EB243}"/>
          </ac:spMkLst>
        </pc:spChg>
      </pc:sldChg>
      <pc:sldChg chg="addSp delSp modSp mod modClrScheme modAnim chgLayout">
        <pc:chgData name="senthuran6370@outlook.com" userId="9ac8ce845672977e" providerId="LiveId" clId="{9E01A7A0-B4BC-4FDC-887C-C9A3C42D9A24}" dt="2026-05-19T14:00:26.437" v="298" actId="1076"/>
        <pc:sldMkLst>
          <pc:docMk/>
          <pc:sldMk cId="3902256144" sldId="260"/>
        </pc:sldMkLst>
        <pc:spChg chg="add mod">
          <ac:chgData name="senthuran6370@outlook.com" userId="9ac8ce845672977e" providerId="LiveId" clId="{9E01A7A0-B4BC-4FDC-887C-C9A3C42D9A24}" dt="2026-05-19T14:00:17.603" v="294" actId="1076"/>
          <ac:spMkLst>
            <pc:docMk/>
            <pc:sldMk cId="3902256144" sldId="260"/>
            <ac:spMk id="2" creationId="{050282B6-96A1-168E-BB73-9C45B534BC9C}"/>
          </ac:spMkLst>
        </pc:spChg>
        <pc:spChg chg="add del mod">
          <ac:chgData name="senthuran6370@outlook.com" userId="9ac8ce845672977e" providerId="LiveId" clId="{9E01A7A0-B4BC-4FDC-887C-C9A3C42D9A24}" dt="2026-05-19T13:59:29.827" v="272"/>
          <ac:spMkLst>
            <pc:docMk/>
            <pc:sldMk cId="3902256144" sldId="260"/>
            <ac:spMk id="3" creationId="{9CD7EA8B-1D33-D46F-38F0-77CA2994EF12}"/>
          </ac:spMkLst>
        </pc:spChg>
        <pc:picChg chg="add mod">
          <ac:chgData name="senthuran6370@outlook.com" userId="9ac8ce845672977e" providerId="LiveId" clId="{9E01A7A0-B4BC-4FDC-887C-C9A3C42D9A24}" dt="2026-05-19T14:00:26.437" v="298" actId="1076"/>
          <ac:picMkLst>
            <pc:docMk/>
            <pc:sldMk cId="3902256144" sldId="260"/>
            <ac:picMk id="4" creationId="{DE8BDF01-7E13-7B6F-4D65-30DE876D30C3}"/>
          </ac:picMkLst>
        </pc:picChg>
        <pc:picChg chg="del">
          <ac:chgData name="senthuran6370@outlook.com" userId="9ac8ce845672977e" providerId="LiveId" clId="{9E01A7A0-B4BC-4FDC-887C-C9A3C42D9A24}" dt="2026-05-19T13:59:12.936" v="270" actId="478"/>
          <ac:picMkLst>
            <pc:docMk/>
            <pc:sldMk cId="3902256144" sldId="260"/>
            <ac:picMk id="5" creationId="{4FE296A0-43AB-BC63-AB44-E4B5B1E4D0A3}"/>
          </ac:picMkLst>
        </pc:picChg>
      </pc:sldChg>
      <pc:sldChg chg="modSp mod">
        <pc:chgData name="senthuran6370@outlook.com" userId="9ac8ce845672977e" providerId="LiveId" clId="{9E01A7A0-B4BC-4FDC-887C-C9A3C42D9A24}" dt="2026-05-19T14:01:52.531" v="317" actId="1076"/>
        <pc:sldMkLst>
          <pc:docMk/>
          <pc:sldMk cId="1475290606" sldId="261"/>
        </pc:sldMkLst>
        <pc:spChg chg="mod">
          <ac:chgData name="senthuran6370@outlook.com" userId="9ac8ce845672977e" providerId="LiveId" clId="{9E01A7A0-B4BC-4FDC-887C-C9A3C42D9A24}" dt="2026-05-19T14:01:52.531" v="317" actId="1076"/>
          <ac:spMkLst>
            <pc:docMk/>
            <pc:sldMk cId="1475290606" sldId="261"/>
            <ac:spMk id="2" creationId="{D509AB38-2A06-29EF-879E-EEE2AD1535C3}"/>
          </ac:spMkLst>
        </pc:spChg>
        <pc:spChg chg="mod">
          <ac:chgData name="senthuran6370@outlook.com" userId="9ac8ce845672977e" providerId="LiveId" clId="{9E01A7A0-B4BC-4FDC-887C-C9A3C42D9A24}" dt="2026-05-19T14:01:50.273" v="316" actId="1076"/>
          <ac:spMkLst>
            <pc:docMk/>
            <pc:sldMk cId="1475290606" sldId="261"/>
            <ac:spMk id="3" creationId="{FA9EFC65-3DD8-383F-9BD0-1B133C1C1C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B783-FA71-E449-2CAE-E71FA8DA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01E17-CF96-4C79-CD86-84771B38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C453-F7C3-1553-0149-4A98A832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BE38-005E-90DD-54DB-8C141FA4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8C85-E6B3-C0EE-70A7-A6267C3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E34-2EE7-AB70-2C58-F85828AD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196BB-9AFD-76D9-20D5-473EB18B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D8A41-4E31-3B8C-1349-06E607AF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1BFC6-6406-67FF-13A6-12D350EC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15F7-0F30-5473-A8C2-B16CC073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5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6FC0-22AD-8E4E-7E1F-5207AA88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C292-5FEE-A615-9ADB-B91B23DD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52CF-C2FD-F57C-7DB1-EF254F22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E894-49DB-D781-95DA-C0CFE250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FA563-B563-6C1A-91F5-DBB4F8AC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00AA-8DA0-AD31-8B44-13A40854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D313-DDD0-58D0-C242-545693A98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D2C67-9863-FD9B-FCDC-32FA9E3D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00C54-7154-E5F8-A93D-52902BAE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F87D4-6DDC-FDCB-5241-C26808E9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9C943-CA8F-FAED-8B1D-E02D0219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6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41E5-CEE8-5DA7-A413-690757F1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4ED61-50EB-8207-A8CE-10D11558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DBEA-627C-C543-82F1-A3FD4B360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8963C-E752-F1CD-386E-E01C7E1F1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87620-BE54-0493-3EF1-816885840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D6A8B-C703-CCA9-9C96-F587B63E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455B9-8301-9048-5B7C-C246D3F0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EA63E-8449-C057-EE15-DF09440A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6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A97D-92C3-3035-28DF-F23E1197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13A81-EFB6-C8BD-75DE-2560F0B3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5438-24EC-D965-B62F-E1FF277E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F4934-AAE8-9AEA-330D-5B4677BBA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4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5DB35-D02F-24BC-F844-470FC67F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814BB-6660-6488-743D-0C1141AB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3076-A5C0-2D8B-1133-42A3BF98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2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F4AC-4947-B49B-6868-9C524667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24DD-F568-DCD4-875E-1F34E6B1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E484-1091-055D-8F40-0A32B85FE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703ED-17BB-F8E4-C888-6B0F64DE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BFFB0-FA74-49F9-F129-79DF83EB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15FA6-2B8B-19CF-3B2A-79B21163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7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9E80-00BC-EEE1-D7A0-AED86D00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F3B7E-6252-7D40-8F38-5B0F671AE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BD542-AD02-637F-F312-C01640FF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2147-50A4-DF6A-D214-2B896A0F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F66C-268E-1D5B-6EBA-5C2D799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07C8C-8F3B-A1DC-1795-10F8303E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5713-33A3-79A0-361E-C2622BCE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E3E75-C95F-8864-160F-2E208ABBD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2EC5-B8BB-32C8-C8BC-17EE8231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BDA6-67D7-223A-483D-0DA8A966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EE1D3-0378-F532-8F03-ED5D8002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6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E5049-118D-C2A4-567E-D9D789DCB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75597-229D-163F-EAF1-AF568CA87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1597-4795-EE30-4F61-067C3F33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81DD-B8B6-61E2-0D57-BEAD9E8B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4851-A5B6-44D6-AC13-60313164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CD785-2193-C6A6-CA48-CDB7B080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41438-91C0-93CC-BE96-D3A58736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4928A-150E-D344-0569-525A2252A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072EF-DBE0-49EE-B119-C3A36C73564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73C1-090E-7C24-3195-B625ABE45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FA9C-EDB9-6F0E-909D-B8F4DE931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B3EA3-559F-087F-96B6-F6372516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314"/>
            <a:ext cx="10515600" cy="88357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Bangalore House Price Prediction</a:t>
            </a:r>
            <a:br>
              <a:rPr lang="en-US" sz="2800" b="1" dirty="0">
                <a:latin typeface="+mn-lt"/>
              </a:rPr>
            </a:br>
            <a:r>
              <a:rPr lang="en-US" sz="2400" dirty="0">
                <a:latin typeface="+mn-lt"/>
              </a:rPr>
              <a:t>Machine Learning Based Real Estate Price Estimation System</a:t>
            </a:r>
            <a:endParaRPr lang="en-US" sz="2800" dirty="0"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4046F-AEE5-0046-2D13-19D34E422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355"/>
            <a:ext cx="10515600" cy="5047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Problem Statement</a:t>
            </a:r>
          </a:p>
          <a:p>
            <a:r>
              <a:rPr lang="en-US" sz="1600" dirty="0"/>
              <a:t>House prices in Bangalore vary significantly depending on:</a:t>
            </a:r>
          </a:p>
          <a:p>
            <a:pPr lvl="1"/>
            <a:r>
              <a:rPr lang="en-US" sz="1600" dirty="0"/>
              <a:t>Location, Property, Size, BHK Count, Area Type, Amenities.</a:t>
            </a:r>
          </a:p>
          <a:p>
            <a:r>
              <a:rPr lang="en-US" sz="1600" dirty="0"/>
              <a:t>Manual estimation is difficult and may lead to inaccurate pricing decisions.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Proposed Solution</a:t>
            </a:r>
          </a:p>
          <a:p>
            <a:r>
              <a:rPr lang="en-US" sz="1600" dirty="0"/>
              <a:t>Developed an intelligent ML-based system that:</a:t>
            </a:r>
          </a:p>
          <a:p>
            <a:r>
              <a:rPr lang="en-US" sz="1600" dirty="0"/>
              <a:t>Analyzes housing data </a:t>
            </a:r>
          </a:p>
          <a:p>
            <a:r>
              <a:rPr lang="en-US" sz="1600" dirty="0"/>
              <a:t>Learns pricing patterns </a:t>
            </a:r>
          </a:p>
          <a:p>
            <a:r>
              <a:rPr lang="en-US" sz="1600" dirty="0"/>
              <a:t>Predicts estimated house prices instantly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Dataset</a:t>
            </a:r>
          </a:p>
          <a:p>
            <a:r>
              <a:rPr lang="en-US" sz="1600" dirty="0"/>
              <a:t>13,000+ Property Records </a:t>
            </a:r>
          </a:p>
          <a:p>
            <a:r>
              <a:rPr lang="en-US" sz="1600" dirty="0"/>
              <a:t>9 Features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81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A20-703C-71F6-BCFD-AA2006CA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09112"/>
            <a:ext cx="10515600" cy="92290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Data Preprocessing &amp;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2A58-04BB-C985-F3A4-C87BD15EC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58296" y="1563329"/>
            <a:ext cx="4161503" cy="2723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Steps Performed</a:t>
            </a:r>
          </a:p>
          <a:p>
            <a:pPr lvl="1"/>
            <a:r>
              <a:rPr lang="en-US" sz="1600" dirty="0"/>
              <a:t>Removed missing values </a:t>
            </a:r>
          </a:p>
          <a:p>
            <a:pPr lvl="1"/>
            <a:r>
              <a:rPr lang="en-US" sz="1600" dirty="0"/>
              <a:t>Cleaned </a:t>
            </a:r>
            <a:r>
              <a:rPr lang="en-US" sz="1600" dirty="0" err="1"/>
              <a:t>total_sqft</a:t>
            </a:r>
            <a:r>
              <a:rPr lang="en-US" sz="1600" dirty="0"/>
              <a:t> values </a:t>
            </a:r>
          </a:p>
          <a:p>
            <a:pPr lvl="1"/>
            <a:r>
              <a:rPr lang="en-US" sz="1600" dirty="0"/>
              <a:t>Extracted BHK information </a:t>
            </a:r>
          </a:p>
          <a:p>
            <a:pPr lvl="1"/>
            <a:r>
              <a:rPr lang="en-US" sz="1600" dirty="0"/>
              <a:t>Removed outliers </a:t>
            </a:r>
          </a:p>
          <a:p>
            <a:pPr lvl="1"/>
            <a:r>
              <a:rPr lang="en-US" sz="1600" dirty="0"/>
              <a:t>Handled rare locations </a:t>
            </a:r>
          </a:p>
          <a:p>
            <a:pPr lvl="1"/>
            <a:r>
              <a:rPr lang="en-US" sz="1600" dirty="0"/>
              <a:t>Applied One Hot Encoding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08784-5AE8-F102-00A5-9138D1FF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1136" y="1563329"/>
            <a:ext cx="4972664" cy="2723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Exploratory Data Analysis (EDA)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Visualizations Used</a:t>
            </a:r>
          </a:p>
          <a:p>
            <a:pPr lvl="1"/>
            <a:r>
              <a:rPr lang="en-US" sz="1600" dirty="0"/>
              <a:t>Price Distribution </a:t>
            </a:r>
          </a:p>
          <a:p>
            <a:pPr lvl="1"/>
            <a:r>
              <a:rPr lang="en-US" sz="1600" dirty="0"/>
              <a:t>Top Locations Analysis </a:t>
            </a:r>
          </a:p>
          <a:p>
            <a:pPr lvl="1"/>
            <a:r>
              <a:rPr lang="en-US" sz="1600" dirty="0"/>
              <a:t>BHK Distribution </a:t>
            </a:r>
          </a:p>
          <a:p>
            <a:pPr lvl="1"/>
            <a:r>
              <a:rPr lang="en-US" sz="1600" dirty="0"/>
              <a:t>Correlation Heatmap </a:t>
            </a:r>
          </a:p>
          <a:p>
            <a:pPr lvl="1"/>
            <a:r>
              <a:rPr lang="en-US" sz="1600" dirty="0"/>
              <a:t>Price vs </a:t>
            </a:r>
            <a:r>
              <a:rPr lang="en-US" sz="1600" dirty="0" err="1"/>
              <a:t>Sqft</a:t>
            </a:r>
            <a:r>
              <a:rPr lang="en-US" sz="1600" dirty="0"/>
              <a:t> Analysis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B34F8-DBD6-B0E0-3E41-55136E7962CA}"/>
              </a:ext>
            </a:extLst>
          </p:cNvPr>
          <p:cNvSpPr txBox="1"/>
          <p:nvPr/>
        </p:nvSpPr>
        <p:spPr>
          <a:xfrm>
            <a:off x="1858296" y="4286865"/>
            <a:ext cx="634180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Location highly impacts house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Larger </a:t>
            </a:r>
            <a:r>
              <a:rPr lang="en-US" sz="1600" dirty="0" err="1"/>
              <a:t>sqft</a:t>
            </a:r>
            <a:r>
              <a:rPr lang="en-US" sz="1600" dirty="0"/>
              <a:t> increases property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BHK and bathrooms strongly influence pricing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Outlier removal improved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360414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4ED-F0E8-8D3F-F0A8-9665B149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919"/>
            <a:ext cx="10515600" cy="5695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+mn-lt"/>
              </a:rPr>
              <a:t>EDA &amp; Model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46B2-E10F-EEAB-F840-ADB62B2B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8" y="899652"/>
            <a:ext cx="10515600" cy="587900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b="1" dirty="0"/>
              <a:t>Machine Learning Models Used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Evaluation Metrics</a:t>
            </a:r>
          </a:p>
          <a:p>
            <a:r>
              <a:rPr lang="en-US" sz="4000" dirty="0"/>
              <a:t>R² Score </a:t>
            </a:r>
          </a:p>
          <a:p>
            <a:r>
              <a:rPr lang="en-US" sz="4000" dirty="0"/>
              <a:t>MAE </a:t>
            </a:r>
          </a:p>
          <a:p>
            <a:r>
              <a:rPr lang="en-US" sz="4000" dirty="0"/>
              <a:t>RMSE</a:t>
            </a:r>
          </a:p>
          <a:p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Best Performing Model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sz="4000" dirty="0"/>
              <a:t>Random Forest Regressor — 95.21% Accuracy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/>
              <a:t>Why Random Forest?</a:t>
            </a:r>
          </a:p>
          <a:p>
            <a:r>
              <a:rPr lang="en-US" sz="4000" dirty="0"/>
              <a:t>Handles complex data patterns </a:t>
            </a:r>
          </a:p>
          <a:p>
            <a:r>
              <a:rPr lang="en-US" sz="4000" dirty="0"/>
              <a:t>Reduces overfitting </a:t>
            </a:r>
          </a:p>
          <a:p>
            <a:r>
              <a:rPr lang="en-US" sz="4000" dirty="0"/>
              <a:t>Provides stable and accurate predictions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F599D3-E763-5375-B988-404C1D795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163873"/>
              </p:ext>
            </p:extLst>
          </p:nvPr>
        </p:nvGraphicFramePr>
        <p:xfrm>
          <a:off x="3067661" y="1304248"/>
          <a:ext cx="5279924" cy="1447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9962">
                  <a:extLst>
                    <a:ext uri="{9D8B030D-6E8A-4147-A177-3AD203B41FA5}">
                      <a16:colId xmlns:a16="http://schemas.microsoft.com/office/drawing/2014/main" val="3204683009"/>
                    </a:ext>
                  </a:extLst>
                </a:gridCol>
                <a:gridCol w="2639962">
                  <a:extLst>
                    <a:ext uri="{9D8B030D-6E8A-4147-A177-3AD203B41FA5}">
                      <a16:colId xmlns:a16="http://schemas.microsoft.com/office/drawing/2014/main" val="4064544712"/>
                    </a:ext>
                  </a:extLst>
                </a:gridCol>
              </a:tblGrid>
              <a:tr h="29409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2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Linear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84.23%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62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Decision Tree Regressor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89.92%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41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Random Forest Regressor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95.21%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5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A37A-788E-E157-F585-6D76B47B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69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latin typeface="+mn-lt"/>
              </a:rPr>
              <a:t>Streamlit</a:t>
            </a:r>
            <a:r>
              <a:rPr lang="en-US" sz="3200" b="1" dirty="0">
                <a:latin typeface="+mn-lt"/>
              </a:rPr>
              <a:t> Deployment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50D2-82DC-D872-9199-2983FA8EB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571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Streamlit</a:t>
            </a:r>
            <a:r>
              <a:rPr lang="en-US" sz="1600" b="1" dirty="0"/>
              <a:t> Web Application</a:t>
            </a:r>
          </a:p>
          <a:p>
            <a:r>
              <a:rPr lang="en-US" sz="1600" b="1" dirty="0"/>
              <a:t>User Inputs</a:t>
            </a:r>
          </a:p>
          <a:p>
            <a:r>
              <a:rPr lang="en-US" sz="1600" dirty="0"/>
              <a:t>Location Dropdown </a:t>
            </a:r>
          </a:p>
          <a:p>
            <a:r>
              <a:rPr lang="en-US" sz="1600" dirty="0"/>
              <a:t>Area Type Dropdown </a:t>
            </a:r>
          </a:p>
          <a:p>
            <a:r>
              <a:rPr lang="en-US" sz="1600" dirty="0"/>
              <a:t>Total </a:t>
            </a:r>
            <a:r>
              <a:rPr lang="en-US" sz="1600" dirty="0" err="1"/>
              <a:t>Sqft</a:t>
            </a:r>
            <a:r>
              <a:rPr lang="en-US" sz="1600" dirty="0"/>
              <a:t> </a:t>
            </a:r>
          </a:p>
          <a:p>
            <a:r>
              <a:rPr lang="en-US" sz="1600" dirty="0"/>
              <a:t>BHK </a:t>
            </a:r>
          </a:p>
          <a:p>
            <a:r>
              <a:rPr lang="en-US" sz="1600" dirty="0"/>
              <a:t>Bathrooms </a:t>
            </a:r>
          </a:p>
          <a:p>
            <a:r>
              <a:rPr lang="en-US" sz="1600" dirty="0"/>
              <a:t>Balconies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Output</a:t>
            </a:r>
          </a:p>
          <a:p>
            <a:r>
              <a:rPr lang="en-US" sz="1600" dirty="0"/>
              <a:t>Estimated House Price Prediction is ₹ 112 Lakhs.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82B6-96A1-168E-BB73-9C45B534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Demo Video</a:t>
            </a:r>
          </a:p>
        </p:txBody>
      </p:sp>
      <p:pic>
        <p:nvPicPr>
          <p:cNvPr id="4" name="House Price Prediction">
            <a:hlinkClick r:id="" action="ppaction://media"/>
            <a:extLst>
              <a:ext uri="{FF2B5EF4-FFF2-40B4-BE49-F238E27FC236}">
                <a16:creationId xmlns:a16="http://schemas.microsoft.com/office/drawing/2014/main" id="{DE8BDF01-7E13-7B6F-4D65-30DE876D30C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5715" y="755752"/>
            <a:ext cx="9679602" cy="5444653"/>
          </a:xfrm>
        </p:spPr>
      </p:pic>
    </p:spTree>
    <p:extLst>
      <p:ext uri="{BB962C8B-B14F-4D97-AF65-F5344CB8AC3E}">
        <p14:creationId xmlns:p14="http://schemas.microsoft.com/office/powerpoint/2010/main" val="390225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9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AB38-2A06-29EF-879E-EEE2AD15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35"/>
            <a:ext cx="10515600" cy="71642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Conclusion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EFC65-3DD8-383F-9BD0-1B133C1C1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312"/>
            <a:ext cx="10515600" cy="4351338"/>
          </a:xfrm>
        </p:spPr>
        <p:txBody>
          <a:bodyPr>
            <a:normAutofit/>
          </a:bodyPr>
          <a:lstStyle/>
          <a:p>
            <a:r>
              <a:rPr lang="en-US" sz="1600" dirty="0"/>
              <a:t>The application predicts Bangalore house prices accurately and helps users make informed real-estate decisions using Machine Learning.</a:t>
            </a:r>
          </a:p>
          <a:p>
            <a:r>
              <a:rPr lang="en-US" sz="1600" dirty="0"/>
              <a:t>This project successfully demonstrates: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Data Cleaning &amp; EDA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Feature Engineering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Machine Learning Model Training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Model Evaluation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 err="1"/>
              <a:t>Streamlit</a:t>
            </a:r>
            <a:r>
              <a:rPr lang="en-US" sz="1600" dirty="0"/>
              <a:t> Deployment </a:t>
            </a:r>
          </a:p>
        </p:txBody>
      </p:sp>
    </p:spTree>
    <p:extLst>
      <p:ext uri="{BB962C8B-B14F-4D97-AF65-F5344CB8AC3E}">
        <p14:creationId xmlns:p14="http://schemas.microsoft.com/office/powerpoint/2010/main" val="1475290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271</Words>
  <Application>Microsoft Office PowerPoint</Application>
  <PresentationFormat>Widescreen</PresentationFormat>
  <Paragraphs>85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Bangalore House Price Prediction Machine Learning Based Real Estate Price Estimation System</vt:lpstr>
      <vt:lpstr>Data Preprocessing &amp; EDA</vt:lpstr>
      <vt:lpstr>EDA &amp; Model Training</vt:lpstr>
      <vt:lpstr>Streamlit Deployment</vt:lpstr>
      <vt:lpstr>Demo Video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senthuran6370@outlook.com</dc:creator>
  <cp:lastModifiedBy>senthuran6370@outlook.com</cp:lastModifiedBy>
  <cp:revision>1</cp:revision>
  <dcterms:created xsi:type="dcterms:W3CDTF">2026-05-18T13:53:47Z</dcterms:created>
  <dcterms:modified xsi:type="dcterms:W3CDTF">2026-05-19T14:02:43Z</dcterms:modified>
</cp:coreProperties>
</file>